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4" r:id="rId1"/>
  </p:sldMasterIdLst>
  <p:notesMasterIdLst>
    <p:notesMasterId r:id="rId25"/>
  </p:notesMasterIdLst>
  <p:sldIdLst>
    <p:sldId id="289" r:id="rId2"/>
    <p:sldId id="306" r:id="rId3"/>
    <p:sldId id="307" r:id="rId4"/>
    <p:sldId id="308" r:id="rId5"/>
    <p:sldId id="309" r:id="rId6"/>
    <p:sldId id="328" r:id="rId7"/>
    <p:sldId id="310" r:id="rId8"/>
    <p:sldId id="314" r:id="rId9"/>
    <p:sldId id="311" r:id="rId10"/>
    <p:sldId id="330" r:id="rId11"/>
    <p:sldId id="325" r:id="rId12"/>
    <p:sldId id="326" r:id="rId13"/>
    <p:sldId id="315" r:id="rId14"/>
    <p:sldId id="312" r:id="rId15"/>
    <p:sldId id="313" r:id="rId16"/>
    <p:sldId id="318" r:id="rId17"/>
    <p:sldId id="322" r:id="rId18"/>
    <p:sldId id="327" r:id="rId19"/>
    <p:sldId id="321" r:id="rId20"/>
    <p:sldId id="329" r:id="rId21"/>
    <p:sldId id="324" r:id="rId22"/>
    <p:sldId id="295" r:id="rId23"/>
    <p:sldId id="316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44A"/>
    <a:srgbClr val="080CB8"/>
    <a:srgbClr val="120060"/>
    <a:srgbClr val="BCB800"/>
    <a:srgbClr val="0099CC"/>
    <a:srgbClr val="00FFCC"/>
    <a:srgbClr val="3366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198027-090A-47FC-85E2-F0FB76857312}" v="2" dt="2026-03-16T20:50:09.6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>
      <p:cViewPr varScale="1">
        <p:scale>
          <a:sx n="84" d="100"/>
          <a:sy n="84" d="100"/>
        </p:scale>
        <p:origin x="1387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A113D-5592-4A2D-A435-F65459BC33AC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3034-1114-41F3-97C2-813881B29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18F3-DBA2-42A6-9526-0A802879DA3B}" type="datetime1">
              <a:rPr lang="en-US" smtClean="0"/>
              <a:t>3/17/2026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Engineering, School of Engineering &amp; Sciences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3125F7B6-21EC-477A-8914-ADF2262C50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A776-F9F9-4FA1-B395-B347582DEB61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Engineering, School of Engineering &amp; Sciences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C05D7-2CCB-4E36-8CC2-5E1175935475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/>
              <a:t>Department of Electronics &amp; Communication Engineering, School of Engineering &amp; Sciences</a:t>
            </a: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3125F7B6-21EC-477A-8914-ADF2262C50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4CEDF-40D9-4DC2-9ED6-2F08F5B9CFF3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Engineering, School of Engineering &amp; Sciences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C734-2C07-4FA2-8A53-BAF358859511}" type="datetime1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Engineering, School of Engineering &amp; Sciences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FD6C6-C850-4A29-B7C2-0AD666FE0771}" type="datetime1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Engineering, School of Engineering &amp;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6BE9-7BDF-4CDF-9AC9-F74B92EC4E93}" type="datetime1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Engineering, School of Engineering &amp; Sciences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A6011-BBE0-44F4-84E6-06BE9B39878D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Engineering, School of Engineering &amp; Sciences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83631-6FE7-47FA-A92D-80C75CFED2AA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/>
              <a:t>Department of Electronics &amp; Communication Engineering, School of Engineering &amp; Sciences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3125F7B6-21EC-477A-8914-ADF2262C50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6EE7-6C22-49EB-B45A-E9CD5624664C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Engineering, School of Engineering &amp; Sciences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37038-4427-4217-BA0C-C76BF2C4E298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Engineering, School of Engineering &amp; Sciences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662D796-43A2-43E4-9E0B-C9D739E874D6}" type="datetime1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Department of Electronics &amp; Communication Engineering, School of Engineering &amp; Sciences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3125F7B6-21EC-477A-8914-ADF2262C507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uthor/37085630871" TargetMode="External"/><Relationship Id="rId2" Type="http://schemas.openxmlformats.org/officeDocument/2006/relationships/hyperlink" Target="https://ieeexplore.ieee.org/author/37086500367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ieeexplore.ieee.org/author/37086499960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2CA72-FA2A-4FBC-AC1C-96A59078FD61}"/>
              </a:ext>
            </a:extLst>
          </p:cNvPr>
          <p:cNvSpPr/>
          <p:nvPr/>
        </p:nvSpPr>
        <p:spPr>
          <a:xfrm>
            <a:off x="857250" y="1320225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Pesticide Application System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961A11-E065-4689-B720-A2E1FAA95038}"/>
              </a:ext>
            </a:extLst>
          </p:cNvPr>
          <p:cNvSpPr txBox="1"/>
          <p:nvPr/>
        </p:nvSpPr>
        <p:spPr>
          <a:xfrm>
            <a:off x="146305" y="286716"/>
            <a:ext cx="63306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School of Engineering &amp; Sciences</a:t>
            </a:r>
          </a:p>
          <a:p>
            <a:pPr algn="ctr"/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Department of Electronics &amp; Communication  Engineering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C5CC36-F1A9-46FB-880D-BCF224AAFCC1}"/>
              </a:ext>
            </a:extLst>
          </p:cNvPr>
          <p:cNvCxnSpPr>
            <a:cxnSpLocks/>
          </p:cNvCxnSpPr>
          <p:nvPr/>
        </p:nvCxnSpPr>
        <p:spPr>
          <a:xfrm flipH="1">
            <a:off x="228600" y="1143000"/>
            <a:ext cx="563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A9ADE73-F8BB-4EE2-8818-174E7E123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082614"/>
              </p:ext>
            </p:extLst>
          </p:nvPr>
        </p:nvGraphicFramePr>
        <p:xfrm>
          <a:off x="603504" y="2921000"/>
          <a:ext cx="7930897" cy="18796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01481">
                  <a:extLst>
                    <a:ext uri="{9D8B030D-6E8A-4147-A177-3AD203B41FA5}">
                      <a16:colId xmlns:a16="http://schemas.microsoft.com/office/drawing/2014/main" val="4055182974"/>
                    </a:ext>
                  </a:extLst>
                </a:gridCol>
                <a:gridCol w="1301481">
                  <a:extLst>
                    <a:ext uri="{9D8B030D-6E8A-4147-A177-3AD203B41FA5}">
                      <a16:colId xmlns:a16="http://schemas.microsoft.com/office/drawing/2014/main" val="4259833853"/>
                    </a:ext>
                  </a:extLst>
                </a:gridCol>
                <a:gridCol w="2196248">
                  <a:extLst>
                    <a:ext uri="{9D8B030D-6E8A-4147-A177-3AD203B41FA5}">
                      <a16:colId xmlns:a16="http://schemas.microsoft.com/office/drawing/2014/main" val="2467924875"/>
                    </a:ext>
                  </a:extLst>
                </a:gridCol>
                <a:gridCol w="3131687">
                  <a:extLst>
                    <a:ext uri="{9D8B030D-6E8A-4147-A177-3AD203B41FA5}">
                      <a16:colId xmlns:a16="http://schemas.microsoft.com/office/drawing/2014/main" val="1717717190"/>
                    </a:ext>
                  </a:extLst>
                </a:gridCol>
              </a:tblGrid>
              <a:tr h="369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20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Enrolment No.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566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D2234010</a:t>
                      </a:r>
                      <a:endParaRPr sz="1800" b="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ECO</a:t>
                      </a:r>
                      <a:endParaRPr sz="1800" b="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MITU23BTECD010</a:t>
                      </a:r>
                      <a:endParaRPr sz="1800" b="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Om Pawar</a:t>
                      </a:r>
                      <a:endParaRPr sz="1800" b="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2255781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2224066</a:t>
                      </a:r>
                      <a:endParaRPr sz="1800" b="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ECO</a:t>
                      </a:r>
                      <a:endParaRPr sz="1800" b="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MITU22BTEC0011</a:t>
                      </a:r>
                      <a:endParaRPr sz="1800" b="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Anuja Chitode</a:t>
                      </a:r>
                      <a:endParaRPr sz="1800" b="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3402985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2224107</a:t>
                      </a:r>
                      <a:endParaRPr sz="1800" b="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ECO</a:t>
                      </a:r>
                      <a:endParaRPr sz="1800" b="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MITU22BTEC0001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Abhishek Palve</a:t>
                      </a:r>
                      <a:endParaRPr sz="1800" b="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2011074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2224077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ECO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MITU22BTEC0090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Shruti Saware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928946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DD90CB7B-2555-40F8-A6A0-88FFA3196689}"/>
              </a:ext>
            </a:extLst>
          </p:cNvPr>
          <p:cNvSpPr/>
          <p:nvPr/>
        </p:nvSpPr>
        <p:spPr>
          <a:xfrm>
            <a:off x="566557" y="2380857"/>
            <a:ext cx="1385059" cy="498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IN" sz="2000" dirty="0">
                <a:solidFill>
                  <a:srgbClr val="080CB8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Topic: 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New</a:t>
            </a:r>
            <a:endParaRPr lang="en-IN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6C89F-6E40-473B-AD3F-E254FEC7FC07}"/>
              </a:ext>
            </a:extLst>
          </p:cNvPr>
          <p:cNvSpPr/>
          <p:nvPr/>
        </p:nvSpPr>
        <p:spPr>
          <a:xfrm>
            <a:off x="603502" y="2006025"/>
            <a:ext cx="7930898" cy="512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solidFill>
                  <a:srgbClr val="080CB8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Group Code: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ECO2526UGP-20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                          </a:t>
            </a:r>
            <a:r>
              <a:rPr lang="en-IN" sz="2000" dirty="0">
                <a:solidFill>
                  <a:srgbClr val="080CB8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Course Code : 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BTC0721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58701A9-B5E7-4721-BB95-1C1BF6C93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078430"/>
              </p:ext>
            </p:extLst>
          </p:nvPr>
        </p:nvGraphicFramePr>
        <p:xfrm>
          <a:off x="603503" y="5105400"/>
          <a:ext cx="7930897" cy="3962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823099">
                  <a:extLst>
                    <a:ext uri="{9D8B030D-6E8A-4147-A177-3AD203B41FA5}">
                      <a16:colId xmlns:a16="http://schemas.microsoft.com/office/drawing/2014/main" val="4055182974"/>
                    </a:ext>
                  </a:extLst>
                </a:gridCol>
                <a:gridCol w="4107798">
                  <a:extLst>
                    <a:ext uri="{9D8B030D-6E8A-4147-A177-3AD203B41FA5}">
                      <a16:colId xmlns:a16="http://schemas.microsoft.com/office/drawing/2014/main" val="42598338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Guide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Prof.Dr. Sachin</a:t>
                      </a:r>
                      <a:r>
                        <a:rPr lang="en-US" sz="2000" b="0" u="none" strike="noStrike" cap="none" baseline="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Patil</a:t>
                      </a:r>
                      <a:endParaRPr lang="en-US" sz="2000" b="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566078"/>
                  </a:ext>
                </a:extLst>
              </a:tr>
            </a:tbl>
          </a:graphicData>
        </a:graphic>
      </p:graphicFrame>
      <p:pic>
        <p:nvPicPr>
          <p:cNvPr id="6" name="Picture 5" descr="A logo with text on it&#10;&#10;AI-generated content may be incorrect.">
            <a:extLst>
              <a:ext uri="{FF2B5EF4-FFF2-40B4-BE49-F238E27FC236}">
                <a16:creationId xmlns:a16="http://schemas.microsoft.com/office/drawing/2014/main" id="{2394E953-7FB1-0DC0-279C-61DC93215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250" y="202625"/>
            <a:ext cx="2673350" cy="104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116640"/>
            <a:ext cx="5791200" cy="65563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Sponsorship Details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(if any)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54734" y="914400"/>
            <a:ext cx="8534400" cy="45720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Sponsored by: Name of company/lab/institute/university etc.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of company/lab/institute/university etc.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Sponsorship in term of: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Attach sponsorship documents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1- 2 slides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98704" y="136267"/>
            <a:ext cx="844296" cy="77813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28600" y="254154"/>
            <a:ext cx="9877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Sponsored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</a:t>
            </a:r>
          </a:p>
        </p:txBody>
      </p:sp>
      <p:pic>
        <p:nvPicPr>
          <p:cNvPr id="3" name="Picture 2" descr="A logo with text on it&#10;&#10;AI-generated content may be incorrect.">
            <a:extLst>
              <a:ext uri="{FF2B5EF4-FFF2-40B4-BE49-F238E27FC236}">
                <a16:creationId xmlns:a16="http://schemas.microsoft.com/office/drawing/2014/main" id="{D49651CE-B80F-EC07-453D-30CCF8EC6B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55" y="202625"/>
            <a:ext cx="1462341" cy="569653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C32D642-9895-8C11-2696-5D09B8DC5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284160"/>
            <a:ext cx="4343400" cy="457200"/>
          </a:xfrm>
        </p:spPr>
        <p:txBody>
          <a:bodyPr/>
          <a:lstStyle/>
          <a:p>
            <a:pPr algn="ctr"/>
            <a:r>
              <a:rPr lang="en-US" dirty="0"/>
              <a:t>Department of Electronics &amp; Communication Engineering, School of Engineering &amp; Sciences</a:t>
            </a:r>
          </a:p>
        </p:txBody>
      </p:sp>
    </p:spTree>
    <p:extLst>
      <p:ext uri="{BB962C8B-B14F-4D97-AF65-F5344CB8AC3E}">
        <p14:creationId xmlns:p14="http://schemas.microsoft.com/office/powerpoint/2010/main" val="299096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C8883-8496-4387-A28A-F9DD52690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76200"/>
            <a:ext cx="1969369" cy="655638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  <a:endParaRPr lang="en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DC983-6E8D-4B5F-9F23-31461409C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73156E-57E4-42B1-89BB-D5D2B7B88DA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533400"/>
            <a:ext cx="8115300" cy="5562600"/>
          </a:xfrm>
        </p:spPr>
        <p:txBody>
          <a:bodyPr>
            <a:no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Literature Review &amp; Field Survey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Identification of Gaps/Scopes of Work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Methodology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Actual project work (Own Contribution)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Result and Discussion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Cost Sheet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Future Scope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Project Work Action Plan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Project Based Accolades </a:t>
            </a:r>
          </a:p>
          <a:p>
            <a:pPr>
              <a:lnSpc>
                <a:spcPct val="12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Reference</a:t>
            </a:r>
          </a:p>
        </p:txBody>
      </p:sp>
      <p:pic>
        <p:nvPicPr>
          <p:cNvPr id="6" name="Picture 5" descr="A logo with text on it&#10;&#10;AI-generated content may be incorrect.">
            <a:extLst>
              <a:ext uri="{FF2B5EF4-FFF2-40B4-BE49-F238E27FC236}">
                <a16:creationId xmlns:a16="http://schemas.microsoft.com/office/drawing/2014/main" id="{B75C5064-A6AF-8543-36DA-EACB70783E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55" y="202625"/>
            <a:ext cx="1462341" cy="56965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3833A-14B9-F583-1F73-44B0B6F6F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6229662"/>
            <a:ext cx="4343400" cy="457200"/>
          </a:xfrm>
        </p:spPr>
        <p:txBody>
          <a:bodyPr/>
          <a:lstStyle/>
          <a:p>
            <a:pPr algn="ctr"/>
            <a:r>
              <a:rPr lang="en-US" dirty="0"/>
              <a:t>Department of Electronics &amp; Communication Engineering, School of Engineering &amp; Sciences</a:t>
            </a:r>
          </a:p>
        </p:txBody>
      </p:sp>
    </p:spTree>
    <p:extLst>
      <p:ext uri="{BB962C8B-B14F-4D97-AF65-F5344CB8AC3E}">
        <p14:creationId xmlns:p14="http://schemas.microsoft.com/office/powerpoint/2010/main" val="389428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3504" y="884238"/>
            <a:ext cx="8235696" cy="4906962"/>
          </a:xfrm>
        </p:spPr>
        <p:txBody>
          <a:bodyPr>
            <a:normAutofit/>
          </a:bodyPr>
          <a:lstStyle/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Pesticide Application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focuses on automating and optimizing the pesticide application process in open-field grape cultivation. </a:t>
            </a: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detects early signs of crop diseases using camera-based monitoring and machine learning, ensuring timely and accurate identification of infections.</a:t>
            </a: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a disease is detected, the system automatically applies pesticide precisely to the affected grape plants through a controlled spraying mechanism.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276600" y="152400"/>
            <a:ext cx="2514600" cy="579438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3200" b="1" dirty="0">
              <a:solidFill>
                <a:srgbClr val="7030A0"/>
              </a:solidFill>
            </a:endParaRPr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24050" y="6278880"/>
            <a:ext cx="5410200" cy="457200"/>
          </a:xfrm>
        </p:spPr>
        <p:txBody>
          <a:bodyPr/>
          <a:lstStyle/>
          <a:p>
            <a:pPr algn="ctr"/>
            <a:r>
              <a:rPr lang="en-US" dirty="0"/>
              <a:t>Department of Electronics &amp; Communication Engineering, </a:t>
            </a:r>
          </a:p>
          <a:p>
            <a:pPr algn="ctr"/>
            <a:r>
              <a:rPr lang="en-US" dirty="0"/>
              <a:t>School of Engineering &amp; Sciences</a:t>
            </a:r>
          </a:p>
        </p:txBody>
      </p:sp>
      <p:pic>
        <p:nvPicPr>
          <p:cNvPr id="2" name="Picture 1" descr="A logo with text on it&#10;&#10;AI-generated content may be incorrect.">
            <a:extLst>
              <a:ext uri="{FF2B5EF4-FFF2-40B4-BE49-F238E27FC236}">
                <a16:creationId xmlns:a16="http://schemas.microsoft.com/office/drawing/2014/main" id="{1F36CB18-FA09-1780-F464-DF13645F52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55" y="202625"/>
            <a:ext cx="1462341" cy="56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1D52EAA-25B4-418C-B11E-9C65E8E00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344802"/>
              </p:ext>
            </p:extLst>
          </p:nvPr>
        </p:nvGraphicFramePr>
        <p:xfrm>
          <a:off x="405245" y="837040"/>
          <a:ext cx="8305800" cy="58521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91029">
                  <a:extLst>
                    <a:ext uri="{9D8B030D-6E8A-4147-A177-3AD203B41FA5}">
                      <a16:colId xmlns:a16="http://schemas.microsoft.com/office/drawing/2014/main" val="4055182974"/>
                    </a:ext>
                  </a:extLst>
                </a:gridCol>
                <a:gridCol w="1721262">
                  <a:extLst>
                    <a:ext uri="{9D8B030D-6E8A-4147-A177-3AD203B41FA5}">
                      <a16:colId xmlns:a16="http://schemas.microsoft.com/office/drawing/2014/main" val="4259833853"/>
                    </a:ext>
                  </a:extLst>
                </a:gridCol>
                <a:gridCol w="3659909">
                  <a:extLst>
                    <a:ext uri="{9D8B030D-6E8A-4147-A177-3AD203B41FA5}">
                      <a16:colId xmlns:a16="http://schemas.microsoft.com/office/drawing/2014/main" val="2467924875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810206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Ref. No.</a:t>
                      </a:r>
                      <a:endParaRPr lang="en-IN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</a:t>
                      </a:r>
                      <a:r>
                        <a:rPr kumimoji="0" lang="en-US" sz="20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Title</a:t>
                      </a:r>
                      <a:endParaRPr kumimoji="0" lang="en-IN" sz="20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Names, Name of Journal/Conference, Volume No., Year </a:t>
                      </a:r>
                      <a:r>
                        <a:rPr lang="en-US" sz="2000" b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publication etc.</a:t>
                      </a:r>
                      <a:endParaRPr lang="en-IN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</a:p>
                    <a:p>
                      <a:pPr algn="ctr"/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566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Trend Technologies for Robotic Fertilization Process in Row Crops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Christyan Cruz Ulloa, Anne Krus, Antonio Barriento, Jaime del Cerro and Constantino Valero</a:t>
                      </a:r>
                    </a:p>
                    <a:p>
                      <a:r>
                        <a:rPr lang="en-US" dirty="0"/>
                        <a:t>published: 27 April 2022 </a:t>
                      </a:r>
                    </a:p>
                    <a:p>
                      <a:r>
                        <a:rPr lang="en-US" dirty="0" err="1"/>
                        <a:t>doi</a:t>
                      </a:r>
                      <a:r>
                        <a:rPr lang="en-US" dirty="0"/>
                        <a:t>: 10.3389/frobt.2022.808484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work focuses on analyzing laser sensors and multispectral/RGB cameras to extract crop characteristics, providing key data (NDVI, RGB histograms, point clouds) for informed decisions in robotic fertilization.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781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Automated Fertilizer Mixer System for Fertigation Farming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M.F.Saaid</a:t>
                      </a:r>
                      <a:r>
                        <a:rPr lang="en-US" dirty="0"/>
                        <a:t>, MK Nordin, Ahmad Ihsan Mohd Yassin, and </a:t>
                      </a:r>
                      <a:r>
                        <a:rPr lang="en-US" dirty="0" err="1"/>
                        <a:t>Nooritawati</a:t>
                      </a:r>
                      <a:r>
                        <a:rPr lang="en-US" dirty="0"/>
                        <a:t> Md Tahir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purpose of this project is to study the effectiveness of the system in mixing the raw ingredients of fertilizers.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985432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374904" y="172499"/>
            <a:ext cx="83118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Literature Review &amp; Field Survey</a:t>
            </a:r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24050" y="6278880"/>
            <a:ext cx="5410200" cy="457200"/>
          </a:xfrm>
        </p:spPr>
        <p:txBody>
          <a:bodyPr/>
          <a:lstStyle/>
          <a:p>
            <a:pPr algn="ctr"/>
            <a:r>
              <a:rPr lang="en-US" dirty="0"/>
              <a:t>Department of Electronics &amp; Communication Engineering, </a:t>
            </a:r>
          </a:p>
          <a:p>
            <a:pPr algn="ctr"/>
            <a:r>
              <a:rPr lang="en-US" dirty="0"/>
              <a:t>School of Engineering &amp; Sciences</a:t>
            </a:r>
          </a:p>
        </p:txBody>
      </p:sp>
      <p:pic>
        <p:nvPicPr>
          <p:cNvPr id="5" name="Picture 4" descr="A logo with text on it&#10;&#10;AI-generated content may be incorrect.">
            <a:extLst>
              <a:ext uri="{FF2B5EF4-FFF2-40B4-BE49-F238E27FC236}">
                <a16:creationId xmlns:a16="http://schemas.microsoft.com/office/drawing/2014/main" id="{E9E92CFF-94D2-D3EB-A135-0F81ADF117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55" y="202625"/>
            <a:ext cx="1462341" cy="56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68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C82A8A-6650-716A-10F8-323EC07E6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Engineering, School of Engineering &amp; Sciences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B4E21-FCC9-9FCA-0634-91B7E3E18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327F3C-C7B6-5C6A-BCF5-4B45DF528D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134437"/>
              </p:ext>
            </p:extLst>
          </p:nvPr>
        </p:nvGraphicFramePr>
        <p:xfrm>
          <a:off x="374904" y="502920"/>
          <a:ext cx="8305800" cy="35661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91029">
                  <a:extLst>
                    <a:ext uri="{9D8B030D-6E8A-4147-A177-3AD203B41FA5}">
                      <a16:colId xmlns:a16="http://schemas.microsoft.com/office/drawing/2014/main" val="4055182974"/>
                    </a:ext>
                  </a:extLst>
                </a:gridCol>
                <a:gridCol w="1721262">
                  <a:extLst>
                    <a:ext uri="{9D8B030D-6E8A-4147-A177-3AD203B41FA5}">
                      <a16:colId xmlns:a16="http://schemas.microsoft.com/office/drawing/2014/main" val="4259833853"/>
                    </a:ext>
                  </a:extLst>
                </a:gridCol>
                <a:gridCol w="3666005">
                  <a:extLst>
                    <a:ext uri="{9D8B030D-6E8A-4147-A177-3AD203B41FA5}">
                      <a16:colId xmlns:a16="http://schemas.microsoft.com/office/drawing/2014/main" val="2467924875"/>
                    </a:ext>
                  </a:extLst>
                </a:gridCol>
                <a:gridCol w="2127504">
                  <a:extLst>
                    <a:ext uri="{9D8B030D-6E8A-4147-A177-3AD203B41FA5}">
                      <a16:colId xmlns:a16="http://schemas.microsoft.com/office/drawing/2014/main" val="810206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Ref. No.</a:t>
                      </a:r>
                      <a:endParaRPr lang="en-IN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</a:t>
                      </a:r>
                      <a:r>
                        <a:rPr kumimoji="0" lang="en-US" sz="20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Title</a:t>
                      </a:r>
                      <a:endParaRPr kumimoji="0" lang="en-IN" sz="20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Names, Name of Journal/Conference, Volume No., Year </a:t>
                      </a:r>
                      <a:r>
                        <a:rPr lang="en-US" sz="2000" b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publication etc.</a:t>
                      </a:r>
                      <a:endParaRPr lang="en-IN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</a:p>
                    <a:p>
                      <a:pPr algn="ctr"/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566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Automated Fertigation System Using IoT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Omer Mohamed Elhassan Ahmed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; 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Abdalla A. Osman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; 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Sally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Dafaalla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Awadalkarim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The fertilization control is the process of adjusting the potential of Hydrogen (pH) and soil electrical conductivity (EC) as in preset database and thereby acidity and alkalinity. 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781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7681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7F065-FE14-48B1-B3F6-8856ED03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012B5B-E02C-44D8-B092-0C8F875889B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838200"/>
            <a:ext cx="8311896" cy="50292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Gaps: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monitoring of grape leaves is time-consuming.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Early detection of grape leaf diseases is difficult using traditional methods.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Excessive pesticide spraying on the entire crop increase chemical usage.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 Raspberry Pi and AI for grape leaf disease detection.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 a robot system for automatic field monitoring.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Enable targeted pesticide spraying only on diseased leaves. </a:t>
            </a:r>
            <a:endParaRPr lang="en-US" sz="24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200" y="152400"/>
            <a:ext cx="68551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3200" b="1" dirty="0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Identification of Gaps/Scopes of Work</a:t>
            </a:r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24050" y="6278880"/>
            <a:ext cx="5410200" cy="457200"/>
          </a:xfrm>
        </p:spPr>
        <p:txBody>
          <a:bodyPr/>
          <a:lstStyle/>
          <a:p>
            <a:pPr algn="ctr"/>
            <a:r>
              <a:rPr lang="en-US" dirty="0"/>
              <a:t>Department of Electronics &amp; Communication Engineering, </a:t>
            </a:r>
          </a:p>
          <a:p>
            <a:pPr algn="ctr"/>
            <a:r>
              <a:rPr lang="en-US" dirty="0"/>
              <a:t>School of Engineering &amp; Sciences</a:t>
            </a:r>
          </a:p>
        </p:txBody>
      </p:sp>
      <p:pic>
        <p:nvPicPr>
          <p:cNvPr id="3" name="Picture 2" descr="A logo with text on it&#10;&#10;AI-generated content may be incorrect.">
            <a:extLst>
              <a:ext uri="{FF2B5EF4-FFF2-40B4-BE49-F238E27FC236}">
                <a16:creationId xmlns:a16="http://schemas.microsoft.com/office/drawing/2014/main" id="{AA4B78ED-FF5E-0DB1-250B-C5B8A379D0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55" y="202625"/>
            <a:ext cx="1462341" cy="56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825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00808" y="272306"/>
            <a:ext cx="8665240" cy="1739373"/>
          </a:xfrm>
        </p:spPr>
        <p:txBody>
          <a:bodyPr/>
          <a:lstStyle/>
          <a:p>
            <a:pPr algn="ctr">
              <a:buNone/>
            </a:pPr>
            <a:r>
              <a:rPr lang="en-US" sz="3200" b="1" dirty="0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Problem Statement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automatically detect crop diseases using image-based machine learning and apply the correct pesticide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78904" y="1676400"/>
            <a:ext cx="8513992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ea typeface="+mj-ea"/>
                <a:cs typeface="Times New Roman" pitchFamily="18" charset="0"/>
              </a:rPr>
              <a:t>Objectives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pesticide spraying using sensors and a Raspberry Pi–controlled pump system.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real-time data on the Raspberry Pi to control spraying accurately and avoid overuse of chemicals.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labour and health risks by minimizing human exposure to pesticides.</a:t>
            </a: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crop protection efficiency through timely, precise, and automated pesticide application.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24050" y="6278880"/>
            <a:ext cx="5410200" cy="457200"/>
          </a:xfrm>
        </p:spPr>
        <p:txBody>
          <a:bodyPr/>
          <a:lstStyle/>
          <a:p>
            <a:pPr algn="ctr"/>
            <a:r>
              <a:rPr lang="en-US" dirty="0"/>
              <a:t>Department of Electronics &amp; Communication Engineering, </a:t>
            </a:r>
          </a:p>
          <a:p>
            <a:pPr algn="ctr"/>
            <a:r>
              <a:rPr lang="en-US" dirty="0"/>
              <a:t>School of Engineering &amp; Sciences</a:t>
            </a:r>
          </a:p>
        </p:txBody>
      </p:sp>
      <p:pic>
        <p:nvPicPr>
          <p:cNvPr id="2" name="Picture 1" descr="A logo with text on it&#10;&#10;AI-generated content may be incorrect.">
            <a:extLst>
              <a:ext uri="{FF2B5EF4-FFF2-40B4-BE49-F238E27FC236}">
                <a16:creationId xmlns:a16="http://schemas.microsoft.com/office/drawing/2014/main" id="{303C30B3-F400-208B-EABA-A5BCC8332A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55" y="202625"/>
            <a:ext cx="1462341" cy="56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28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3276600" y="152400"/>
            <a:ext cx="24865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Methodology</a:t>
            </a:r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24050" y="6278880"/>
            <a:ext cx="5410200" cy="457200"/>
          </a:xfrm>
        </p:spPr>
        <p:txBody>
          <a:bodyPr/>
          <a:lstStyle/>
          <a:p>
            <a:pPr algn="ctr"/>
            <a:r>
              <a:rPr lang="en-US" dirty="0"/>
              <a:t>Department of Electronics &amp; Communication Engineering, </a:t>
            </a:r>
          </a:p>
          <a:p>
            <a:pPr algn="ctr"/>
            <a:r>
              <a:rPr lang="en-US" dirty="0"/>
              <a:t>School of Engineering &amp; Sciences</a:t>
            </a:r>
          </a:p>
        </p:txBody>
      </p:sp>
      <p:pic>
        <p:nvPicPr>
          <p:cNvPr id="5" name="Picture 4" descr="A logo with text on it&#10;&#10;AI-generated content may be incorrect.">
            <a:extLst>
              <a:ext uri="{FF2B5EF4-FFF2-40B4-BE49-F238E27FC236}">
                <a16:creationId xmlns:a16="http://schemas.microsoft.com/office/drawing/2014/main" id="{4EDF4DAB-0DE9-8349-63FB-15EF7781C6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55" y="202625"/>
            <a:ext cx="1462341" cy="569653"/>
          </a:xfrm>
          <a:prstGeom prst="rect">
            <a:avLst/>
          </a:prstGeom>
        </p:spPr>
      </p:pic>
      <p:pic>
        <p:nvPicPr>
          <p:cNvPr id="6" name="Picture 5" descr="A diagram of a machine&#10;&#10;AI-generated content may be incorrect.">
            <a:extLst>
              <a:ext uri="{FF2B5EF4-FFF2-40B4-BE49-F238E27FC236}">
                <a16:creationId xmlns:a16="http://schemas.microsoft.com/office/drawing/2014/main" id="{631FD96D-DAEF-6EE0-0B7B-39FD313CB5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63"/>
          <a:stretch>
            <a:fillRect/>
          </a:stretch>
        </p:blipFill>
        <p:spPr>
          <a:xfrm>
            <a:off x="2209800" y="952500"/>
            <a:ext cx="4570214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093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D2559-C733-4674-AF0C-F2594ECC8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                    Simulation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6135AC-7C2C-428A-9490-3A5CAC197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172200"/>
            <a:ext cx="4419600" cy="457200"/>
          </a:xfrm>
        </p:spPr>
        <p:txBody>
          <a:bodyPr/>
          <a:lstStyle/>
          <a:p>
            <a:pPr algn="ctr"/>
            <a:r>
              <a:rPr lang="en-US" dirty="0"/>
              <a:t>Department of Electronics &amp; Communication Engineering, </a:t>
            </a:r>
          </a:p>
          <a:p>
            <a:pPr algn="ctr"/>
            <a:r>
              <a:rPr lang="en-US" dirty="0"/>
              <a:t>School of Engineering &amp; Sciences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2AE2D-15A0-4033-A201-C406647E7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2491DF-86D8-4844-BDF4-5E49C45A0ED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 descr="A logo with text on it&#10;&#10;AI-generated content may be incorrect.">
            <a:extLst>
              <a:ext uri="{FF2B5EF4-FFF2-40B4-BE49-F238E27FC236}">
                <a16:creationId xmlns:a16="http://schemas.microsoft.com/office/drawing/2014/main" id="{84E793A3-76B6-4797-B28A-70567E6D43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55" y="202625"/>
            <a:ext cx="1462341" cy="56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858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799128" y="131044"/>
            <a:ext cx="582745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Fundamental Background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1302" y="990600"/>
            <a:ext cx="8382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Plant disease detection is done using image analysis of grape leaves.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 A Raspberry Pi processes the captured images and detects disease using an AI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The system is implemented on a robot that can move in the field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When a diseased leaf is detected, the system activates the pump to spray pesticide only in the affected area.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This approach helps reduce chemical usage, detect disease early, and improve crop health.</a:t>
            </a:r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24050" y="6278880"/>
            <a:ext cx="5410200" cy="457200"/>
          </a:xfrm>
        </p:spPr>
        <p:txBody>
          <a:bodyPr/>
          <a:lstStyle/>
          <a:p>
            <a:pPr algn="ctr"/>
            <a:r>
              <a:rPr lang="en-US" dirty="0"/>
              <a:t>Department of Electronics &amp; Communication Engineering,</a:t>
            </a:r>
          </a:p>
          <a:p>
            <a:pPr algn="ctr"/>
            <a:r>
              <a:rPr lang="en-US" dirty="0"/>
              <a:t>School of Engineering &amp; Sciences</a:t>
            </a:r>
          </a:p>
        </p:txBody>
      </p:sp>
      <p:pic>
        <p:nvPicPr>
          <p:cNvPr id="2" name="Picture 1" descr="A logo with text on it&#10;&#10;AI-generated content may be incorrect.">
            <a:extLst>
              <a:ext uri="{FF2B5EF4-FFF2-40B4-BE49-F238E27FC236}">
                <a16:creationId xmlns:a16="http://schemas.microsoft.com/office/drawing/2014/main" id="{3D231B4A-0962-7563-8B50-B3A7113547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55" y="202625"/>
            <a:ext cx="1462341" cy="56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18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67086" y="772278"/>
            <a:ext cx="8382000" cy="4816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Actual Project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up Raspberry Pi for AI image processing.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Connected Arduino Uno with motors, relay, and sensors.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camera to capture grape leaf images.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Assembled the robot cart with wheels, motors, and pump system.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Tested the system for disease detection and pesticide spraying.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7030A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800" b="1" dirty="0">
              <a:solidFill>
                <a:srgbClr val="7030A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" name="Picture 1" descr="A logo with text on it&#10;&#10;AI-generated content may be incorrect.">
            <a:extLst>
              <a:ext uri="{FF2B5EF4-FFF2-40B4-BE49-F238E27FC236}">
                <a16:creationId xmlns:a16="http://schemas.microsoft.com/office/drawing/2014/main" id="{051EAD36-A4FD-DBE0-F209-A59386E36E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55" y="202625"/>
            <a:ext cx="1462341" cy="569653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E48F19-E0C8-1E24-2C43-69DE90490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7086600" cy="457200"/>
          </a:xfrm>
        </p:spPr>
        <p:txBody>
          <a:bodyPr/>
          <a:lstStyle/>
          <a:p>
            <a:pPr algn="ctr"/>
            <a:r>
              <a:rPr lang="en-US" dirty="0"/>
              <a:t>Department of Electronics &amp; Communication Engineering, </a:t>
            </a:r>
          </a:p>
          <a:p>
            <a:pPr algn="ctr"/>
            <a:r>
              <a:rPr lang="en-US" dirty="0"/>
              <a:t>School of Engineering &amp; Sciences</a:t>
            </a:r>
          </a:p>
        </p:txBody>
      </p:sp>
    </p:spTree>
    <p:extLst>
      <p:ext uri="{BB962C8B-B14F-4D97-AF65-F5344CB8AC3E}">
        <p14:creationId xmlns:p14="http://schemas.microsoft.com/office/powerpoint/2010/main" val="3749943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72027" y="152400"/>
            <a:ext cx="38571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Results &amp; Discussion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24050" y="6278880"/>
            <a:ext cx="5410200" cy="457200"/>
          </a:xfrm>
        </p:spPr>
        <p:txBody>
          <a:bodyPr/>
          <a:lstStyle/>
          <a:p>
            <a:pPr algn="ctr"/>
            <a:r>
              <a:rPr lang="en-US" dirty="0"/>
              <a:t>Department of Electronics &amp; Communication Engineering, </a:t>
            </a:r>
          </a:p>
          <a:p>
            <a:pPr algn="ctr"/>
            <a:r>
              <a:rPr lang="en-US" dirty="0"/>
              <a:t>School of Engineering &amp; Sciences</a:t>
            </a:r>
          </a:p>
        </p:txBody>
      </p:sp>
      <p:pic>
        <p:nvPicPr>
          <p:cNvPr id="2" name="Picture 1" descr="A logo with text on it&#10;&#10;AI-generated content may be incorrect.">
            <a:extLst>
              <a:ext uri="{FF2B5EF4-FFF2-40B4-BE49-F238E27FC236}">
                <a16:creationId xmlns:a16="http://schemas.microsoft.com/office/drawing/2014/main" id="{B1468723-9F25-9003-8EEB-3F55338E85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55" y="202625"/>
            <a:ext cx="1462341" cy="569653"/>
          </a:xfrm>
          <a:prstGeom prst="rect">
            <a:avLst/>
          </a:prstGeom>
        </p:spPr>
      </p:pic>
      <p:pic>
        <p:nvPicPr>
          <p:cNvPr id="1026" name="Picture 2" descr="A) Disease-free leaf, (B) Dag disease, (C) Golmachi disease, (D)... |  Download Scientific Diagra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489082"/>
            <a:ext cx="3857146" cy="3879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8194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C495F-A669-40BD-B1FF-2C337491A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93F10A2-E452-460C-8D06-795D41F77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242605"/>
              </p:ext>
            </p:extLst>
          </p:nvPr>
        </p:nvGraphicFramePr>
        <p:xfrm>
          <a:off x="451633" y="772278"/>
          <a:ext cx="8364699" cy="52882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11069">
                  <a:extLst>
                    <a:ext uri="{9D8B030D-6E8A-4147-A177-3AD203B41FA5}">
                      <a16:colId xmlns:a16="http://schemas.microsoft.com/office/drawing/2014/main" val="405518297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4259833853"/>
                    </a:ext>
                  </a:extLst>
                </a:gridCol>
                <a:gridCol w="3415030">
                  <a:extLst>
                    <a:ext uri="{9D8B030D-6E8A-4147-A177-3AD203B41FA5}">
                      <a16:colId xmlns:a16="http://schemas.microsoft.com/office/drawing/2014/main" val="2467924875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810206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Particular</a:t>
                      </a:r>
                      <a:endParaRPr kumimoji="0" lang="en-IN" sz="20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Amount (Rs.)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566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15-10-25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Raspberry Pi 4(4GB)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4,872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781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15-10-25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Raspberry Pi 4 Power Supply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985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15-10-25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TET LCD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2,118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871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24-2-26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DC 5V Ultrasonic module,12v Battery Pack,12v-5v converter, HC-SR04 Ultrasonic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2,740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796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24-2-26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12v Motor, Driver module, Wheels, Caster wheel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1,910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187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9-3-26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Motor,PushButton,Zero pcb servo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551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9-3-26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12*8 PU Unequal union (4)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438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9-3-26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80D PU Elbow &amp;80D Inline hand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237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9-3-26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 Tube &amp;PU equal Tee 8-OD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878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14-3-26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Webcam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1,200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179419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kumimoji="0" lang="en-IN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Total-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14,610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269924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3428999" y="57726"/>
            <a:ext cx="20425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Cost Sheet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" y="5633248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24050" y="6278880"/>
            <a:ext cx="5410200" cy="457200"/>
          </a:xfrm>
        </p:spPr>
        <p:txBody>
          <a:bodyPr/>
          <a:lstStyle/>
          <a:p>
            <a:pPr algn="ctr"/>
            <a:r>
              <a:rPr lang="en-US" dirty="0"/>
              <a:t>Department of Electronics &amp; Communication Engineering, </a:t>
            </a:r>
          </a:p>
          <a:p>
            <a:pPr algn="ctr"/>
            <a:r>
              <a:rPr lang="en-US" dirty="0"/>
              <a:t>School of Engineering &amp; Sciences</a:t>
            </a:r>
          </a:p>
        </p:txBody>
      </p:sp>
      <p:pic>
        <p:nvPicPr>
          <p:cNvPr id="3" name="Picture 2" descr="A logo with text on it&#10;&#10;AI-generated content may be incorrect.">
            <a:extLst>
              <a:ext uri="{FF2B5EF4-FFF2-40B4-BE49-F238E27FC236}">
                <a16:creationId xmlns:a16="http://schemas.microsoft.com/office/drawing/2014/main" id="{CBE883FC-B59E-CC0C-4E95-1946981EBA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55" y="202625"/>
            <a:ext cx="1462341" cy="56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779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82380" y="914400"/>
            <a:ext cx="8093539" cy="4587589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intelligent automation can support farmers by identifying diseases early and responding with timely pesticide action.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approach promotes safer handling practices and encourages more sustainable pest-management methods in grape cultivation.</a:t>
            </a:r>
          </a:p>
          <a:p>
            <a:endParaRPr lang="en-US" sz="24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progress achieved so far confirms that the system is technically feasible and ready for further integration, optimization, and real-world testing.</a:t>
            </a:r>
            <a:endParaRPr lang="en-US" sz="24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505200" y="76200"/>
            <a:ext cx="21451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Conclusion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24050" y="6278880"/>
            <a:ext cx="5410200" cy="457200"/>
          </a:xfrm>
        </p:spPr>
        <p:txBody>
          <a:bodyPr/>
          <a:lstStyle/>
          <a:p>
            <a:pPr algn="ctr"/>
            <a:r>
              <a:rPr lang="en-US" dirty="0"/>
              <a:t>Department of Electronics &amp; Communication Engineering, </a:t>
            </a:r>
          </a:p>
          <a:p>
            <a:pPr algn="ctr"/>
            <a:r>
              <a:rPr lang="en-US" dirty="0"/>
              <a:t>School of Engineering &amp; Sciences</a:t>
            </a:r>
          </a:p>
        </p:txBody>
      </p:sp>
      <p:pic>
        <p:nvPicPr>
          <p:cNvPr id="5" name="Picture 4" descr="A logo with text on it&#10;&#10;AI-generated content may be incorrect.">
            <a:extLst>
              <a:ext uri="{FF2B5EF4-FFF2-40B4-BE49-F238E27FC236}">
                <a16:creationId xmlns:a16="http://schemas.microsoft.com/office/drawing/2014/main" id="{AFBE8637-783B-6C5C-B88F-2021347606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55" y="202625"/>
            <a:ext cx="1462341" cy="56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62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03504" y="914400"/>
            <a:ext cx="8235696" cy="4572000"/>
          </a:xfrm>
        </p:spPr>
        <p:txBody>
          <a:bodyPr/>
          <a:lstStyle/>
          <a:p>
            <a:r>
              <a:rPr lang="en-US" dirty="0"/>
              <a:t>Improve the AI model on Raspberry Pi to detect more types of plant diseases with higher accuracy.</a:t>
            </a:r>
          </a:p>
          <a:p>
            <a:r>
              <a:rPr lang="en-US" dirty="0"/>
              <a:t>Integrate IoT technology to monitor crop health and system data remotely through a mobile or web application.</a:t>
            </a:r>
          </a:p>
          <a:p>
            <a:r>
              <a:rPr lang="en-US" dirty="0"/>
              <a:t>Expand the robot system for large farms and different crops, making the system more efficient and useful for farmers. </a:t>
            </a:r>
          </a:p>
        </p:txBody>
      </p:sp>
      <p:sp>
        <p:nvSpPr>
          <p:cNvPr id="6" name="Rectangle 5"/>
          <p:cNvSpPr/>
          <p:nvPr/>
        </p:nvSpPr>
        <p:spPr>
          <a:xfrm>
            <a:off x="3276600" y="152400"/>
            <a:ext cx="25128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Future Scope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24050" y="6278880"/>
            <a:ext cx="5410200" cy="457200"/>
          </a:xfrm>
        </p:spPr>
        <p:txBody>
          <a:bodyPr/>
          <a:lstStyle/>
          <a:p>
            <a:pPr algn="ctr"/>
            <a:r>
              <a:rPr lang="en-US" dirty="0"/>
              <a:t>Department of Electronics &amp; Communication Engineering, </a:t>
            </a:r>
          </a:p>
          <a:p>
            <a:pPr algn="ctr"/>
            <a:r>
              <a:rPr lang="en-US" dirty="0"/>
              <a:t>School of Engineering &amp; Sciences</a:t>
            </a:r>
          </a:p>
        </p:txBody>
      </p:sp>
      <p:pic>
        <p:nvPicPr>
          <p:cNvPr id="2" name="Picture 1" descr="A logo with text on it&#10;&#10;AI-generated content may be incorrect.">
            <a:extLst>
              <a:ext uri="{FF2B5EF4-FFF2-40B4-BE49-F238E27FC236}">
                <a16:creationId xmlns:a16="http://schemas.microsoft.com/office/drawing/2014/main" id="{73351AA5-9CC3-B622-0049-FC14B97702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55" y="202625"/>
            <a:ext cx="1462341" cy="56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133190"/>
              </p:ext>
            </p:extLst>
          </p:nvPr>
        </p:nvGraphicFramePr>
        <p:xfrm>
          <a:off x="500003" y="838662"/>
          <a:ext cx="8415404" cy="4648196"/>
        </p:xfrm>
        <a:graphic>
          <a:graphicData uri="http://schemas.openxmlformats.org/drawingml/2006/table">
            <a:tbl>
              <a:tblPr/>
              <a:tblGrid>
                <a:gridCol w="316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2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820">
                  <a:extLst>
                    <a:ext uri="{9D8B030D-6E8A-4147-A177-3AD203B41FA5}">
                      <a16:colId xmlns:a16="http://schemas.microsoft.com/office/drawing/2014/main" val="1020141942"/>
                    </a:ext>
                  </a:extLst>
                </a:gridCol>
                <a:gridCol w="316820">
                  <a:extLst>
                    <a:ext uri="{9D8B030D-6E8A-4147-A177-3AD203B41FA5}">
                      <a16:colId xmlns:a16="http://schemas.microsoft.com/office/drawing/2014/main" val="3432503122"/>
                    </a:ext>
                  </a:extLst>
                </a:gridCol>
                <a:gridCol w="316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3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7220">
                  <a:extLst>
                    <a:ext uri="{9D8B030D-6E8A-4147-A177-3AD203B41FA5}">
                      <a16:colId xmlns:a16="http://schemas.microsoft.com/office/drawing/2014/main" val="1330861859"/>
                    </a:ext>
                  </a:extLst>
                </a:gridCol>
                <a:gridCol w="4046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6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7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72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357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3579">
                  <a:extLst>
                    <a:ext uri="{9D8B030D-6E8A-4147-A177-3AD203B41FA5}">
                      <a16:colId xmlns:a16="http://schemas.microsoft.com/office/drawing/2014/main" val="4100978511"/>
                    </a:ext>
                  </a:extLst>
                </a:gridCol>
                <a:gridCol w="31730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730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7301">
                  <a:extLst>
                    <a:ext uri="{9D8B030D-6E8A-4147-A177-3AD203B41FA5}">
                      <a16:colId xmlns:a16="http://schemas.microsoft.com/office/drawing/2014/main" val="1389955803"/>
                    </a:ext>
                  </a:extLst>
                </a:gridCol>
                <a:gridCol w="31730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730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778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9506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1314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285687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Sr. No.</a:t>
                      </a: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Activity</a:t>
                      </a: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8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Duration</a:t>
                      </a:r>
                      <a:endParaRPr lang="en-US" sz="105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1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 marR="71755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July 2023</a:t>
                      </a:r>
                    </a:p>
                  </a:txBody>
                  <a:tcPr marL="47969" marR="47969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August 2023</a:t>
                      </a:r>
                    </a:p>
                    <a:p>
                      <a:pPr marL="71755" marR="71755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Sept. 2023</a:t>
                      </a:r>
                    </a:p>
                    <a:p>
                      <a:pPr marL="71755" marR="71755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Project Overview Assessment</a:t>
                      </a:r>
                    </a:p>
                    <a:p>
                      <a:pPr marL="71755" marR="71755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Sept. 2023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 marL="47969" marR="47969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Oct. 2023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 marL="47969" marR="47969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marL="71755" marR="71755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Mid Term Assessment</a:t>
                      </a:r>
                      <a:endParaRPr lang="en-US" sz="1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Oct.  2023</a:t>
                      </a:r>
                    </a:p>
                  </a:txBody>
                  <a:tcPr marL="47969" marR="47969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Nov.  2023</a:t>
                      </a:r>
                    </a:p>
                  </a:txBody>
                  <a:tcPr marL="47969" marR="47969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marL="71755" marR="71755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End Term / Phase I Assessment </a:t>
                      </a:r>
                      <a:endParaRPr lang="en-US" sz="1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Jan.  2023</a:t>
                      </a:r>
                    </a:p>
                  </a:txBody>
                  <a:tcPr marL="47969" marR="47969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Feb. 2023</a:t>
                      </a:r>
                    </a:p>
                  </a:txBody>
                  <a:tcPr marL="47969" marR="47969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marL="71755" marR="71755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Project Overview Assessment</a:t>
                      </a:r>
                    </a:p>
                    <a:p>
                      <a:pPr marL="71755" marR="71755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71755" marR="71755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marL="71755" marR="71755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Mid Term Assessment</a:t>
                      </a:r>
                      <a:endParaRPr lang="en-US" sz="1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marL="71755" marR="71755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End Term / Phase II Assessment </a:t>
                      </a:r>
                      <a:endParaRPr lang="en-US" sz="1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3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3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01721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1718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080788"/>
                  </a:ext>
                </a:extLst>
              </a:tr>
              <a:tr h="9143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7969" marR="479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161349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096648" y="126371"/>
            <a:ext cx="46930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Project Work Action Plan</a:t>
            </a:r>
            <a:endParaRPr lang="en-US" sz="3200" dirty="0"/>
          </a:p>
        </p:txBody>
      </p:sp>
      <p:sp>
        <p:nvSpPr>
          <p:cNvPr id="8" name="Left Brace 7"/>
          <p:cNvSpPr/>
          <p:nvPr/>
        </p:nvSpPr>
        <p:spPr>
          <a:xfrm rot="16200000">
            <a:off x="3619493" y="4029836"/>
            <a:ext cx="304801" cy="3276600"/>
          </a:xfrm>
          <a:prstGeom prst="leftBrace">
            <a:avLst>
              <a:gd name="adj1" fmla="val 8333"/>
              <a:gd name="adj2" fmla="val 1496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590800" y="5635784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Mini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16123" y="6006584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/ PG Project</a:t>
            </a:r>
          </a:p>
        </p:txBody>
      </p:sp>
      <p:sp>
        <p:nvSpPr>
          <p:cNvPr id="11" name="Left Brace 10"/>
          <p:cNvSpPr/>
          <p:nvPr/>
        </p:nvSpPr>
        <p:spPr>
          <a:xfrm rot="16200000">
            <a:off x="5143129" y="2777792"/>
            <a:ext cx="497601" cy="6443614"/>
          </a:xfrm>
          <a:prstGeom prst="leftBrace">
            <a:avLst>
              <a:gd name="adj1" fmla="val 8333"/>
              <a:gd name="adj2" fmla="val 5052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24050" y="6278880"/>
            <a:ext cx="5410200" cy="457200"/>
          </a:xfrm>
        </p:spPr>
        <p:txBody>
          <a:bodyPr/>
          <a:lstStyle/>
          <a:p>
            <a:pPr algn="ctr"/>
            <a:r>
              <a:rPr lang="en-US" dirty="0"/>
              <a:t>Department of Electronics &amp; Communication Engineering, </a:t>
            </a:r>
          </a:p>
          <a:p>
            <a:pPr algn="ctr"/>
            <a:r>
              <a:rPr lang="en-US" dirty="0"/>
              <a:t>School of Engineering &amp; Sciences</a:t>
            </a:r>
          </a:p>
        </p:txBody>
      </p:sp>
      <p:pic>
        <p:nvPicPr>
          <p:cNvPr id="2" name="Picture 1" descr="A logo with text on it&#10;&#10;AI-generated content may be incorrect.">
            <a:extLst>
              <a:ext uri="{FF2B5EF4-FFF2-40B4-BE49-F238E27FC236}">
                <a16:creationId xmlns:a16="http://schemas.microsoft.com/office/drawing/2014/main" id="{5416B317-30FF-A827-3391-1B54A2FDED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55" y="202625"/>
            <a:ext cx="1462341" cy="56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05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4598" y="778161"/>
            <a:ext cx="84700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Activity Schedule Guidelines: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of work activity from start to end with time bonding</a:t>
            </a:r>
          </a:p>
          <a:p>
            <a:pPr marL="342900" indent="-3429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like: </a:t>
            </a:r>
            <a:r>
              <a:rPr lang="en-US" sz="2400" dirty="0">
                <a:latin typeface="Times New Roman" pitchFamily="18" charset="0"/>
                <a:ea typeface="Calibri"/>
                <a:cs typeface="Times New Roman" pitchFamily="18" charset="0"/>
              </a:rPr>
              <a:t>Literature Survey, CAD modelling, software analysis, testing and analysis, publication, report writing etc.</a:t>
            </a:r>
          </a:p>
          <a:p>
            <a:pPr marL="342900" indent="-3429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itchFamily="18" charset="0"/>
                <a:ea typeface="Calibri"/>
                <a:cs typeface="Times New Roman" pitchFamily="18" charset="0"/>
              </a:rPr>
              <a:t>No. of activity may vary with respect to work content</a:t>
            </a:r>
          </a:p>
          <a:p>
            <a:pPr marL="342900" indent="-3429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itchFamily="18" charset="0"/>
                <a:ea typeface="Calibri"/>
                <a:cs typeface="Times New Roman" pitchFamily="18" charset="0"/>
              </a:rPr>
              <a:t>UG Mini project activity schedule for 1 semester</a:t>
            </a:r>
          </a:p>
          <a:p>
            <a:pPr marL="342900" indent="-3429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itchFamily="18" charset="0"/>
                <a:ea typeface="Calibri"/>
                <a:cs typeface="Times New Roman" pitchFamily="18" charset="0"/>
              </a:rPr>
              <a:t>UG/PG Project activity schedule for 1 academic year</a:t>
            </a:r>
          </a:p>
        </p:txBody>
      </p:sp>
      <p:sp>
        <p:nvSpPr>
          <p:cNvPr id="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24050" y="6278880"/>
            <a:ext cx="5410200" cy="457200"/>
          </a:xfrm>
        </p:spPr>
        <p:txBody>
          <a:bodyPr/>
          <a:lstStyle/>
          <a:p>
            <a:pPr algn="ctr"/>
            <a:r>
              <a:rPr lang="en-US" dirty="0"/>
              <a:t>Department of Electronics &amp; Communication Engineering,</a:t>
            </a:r>
          </a:p>
          <a:p>
            <a:pPr algn="ctr"/>
            <a:r>
              <a:rPr lang="en-US" dirty="0"/>
              <a:t> School of Engineering &amp; Sciences</a:t>
            </a:r>
          </a:p>
        </p:txBody>
      </p:sp>
      <p:pic>
        <p:nvPicPr>
          <p:cNvPr id="2" name="Picture 1" descr="A logo with text on it&#10;&#10;AI-generated content may be incorrect.">
            <a:extLst>
              <a:ext uri="{FF2B5EF4-FFF2-40B4-BE49-F238E27FC236}">
                <a16:creationId xmlns:a16="http://schemas.microsoft.com/office/drawing/2014/main" id="{58FE16EE-E53A-9AD1-8046-294528A9A9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55" y="202625"/>
            <a:ext cx="1462341" cy="56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403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8567" y="85581"/>
            <a:ext cx="7365570" cy="655638"/>
          </a:xfrm>
        </p:spPr>
        <p:txBody>
          <a:bodyPr>
            <a:noAutofit/>
          </a:bodyPr>
          <a:lstStyle/>
          <a:p>
            <a:br>
              <a:rPr lang="en-US" sz="32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Project Based Accolades (If Any)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03504" y="990600"/>
            <a:ext cx="8235696" cy="4572000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Paper/Patent/Copyrights publication details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Competition Participation / Award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 details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Consultancy details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significant achievement in project work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Attach appropriate documents</a:t>
            </a:r>
          </a:p>
          <a:p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24050" y="6278880"/>
            <a:ext cx="5410200" cy="457200"/>
          </a:xfrm>
        </p:spPr>
        <p:txBody>
          <a:bodyPr/>
          <a:lstStyle/>
          <a:p>
            <a:pPr algn="ctr"/>
            <a:r>
              <a:rPr lang="en-US" dirty="0"/>
              <a:t>Department of Electronics &amp; Communication Engineering, </a:t>
            </a:r>
          </a:p>
          <a:p>
            <a:pPr algn="ctr"/>
            <a:r>
              <a:rPr lang="en-US" dirty="0"/>
              <a:t>School of Engineering &amp; Sciences</a:t>
            </a:r>
          </a:p>
        </p:txBody>
      </p:sp>
      <p:pic>
        <p:nvPicPr>
          <p:cNvPr id="3" name="Picture 2" descr="A logo with text on it&#10;&#10;AI-generated content may be incorrect.">
            <a:extLst>
              <a:ext uri="{FF2B5EF4-FFF2-40B4-BE49-F238E27FC236}">
                <a16:creationId xmlns:a16="http://schemas.microsoft.com/office/drawing/2014/main" id="{63576AD0-EDAB-CDEE-98B2-036C62D26C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55" y="202625"/>
            <a:ext cx="1462341" cy="56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860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DA1CE-5FC2-456A-9E96-7412A76F1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                   Reference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2BD15F-C3FD-4352-92EB-6E83FFBC9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172200"/>
            <a:ext cx="4648200" cy="457200"/>
          </a:xfrm>
        </p:spPr>
        <p:txBody>
          <a:bodyPr/>
          <a:lstStyle/>
          <a:p>
            <a:pPr algn="ctr"/>
            <a:r>
              <a:rPr lang="en-US" dirty="0"/>
              <a:t>Department of Electronics &amp; Communication Engineering, </a:t>
            </a:r>
          </a:p>
          <a:p>
            <a:pPr algn="ctr"/>
            <a:r>
              <a:rPr lang="en-US" dirty="0"/>
              <a:t>School of Engineering &amp; Sciences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20CDB-E0D1-4EF9-8071-1ADF6204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7A962F-48AC-40B7-9DD7-02F4B149D76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000" b="1" dirty="0"/>
              <a:t>Journal / Conference:</a:t>
            </a:r>
          </a:p>
          <a:p>
            <a:r>
              <a:rPr lang="en-US" sz="2000" b="1" dirty="0"/>
              <a:t> 1.Paper :</a:t>
            </a:r>
            <a:r>
              <a:rPr lang="en-IN" dirty="0"/>
              <a:t>Rajendra Prasad et al., “Camera-Based Pest Detection and Robotic Targeted Spraying System for Smart Agriculture,” 2021. </a:t>
            </a:r>
          </a:p>
          <a:p>
            <a:pPr marL="0" indent="0">
              <a:buNone/>
            </a:pPr>
            <a:endParaRPr lang="en-US" sz="2000" b="1" dirty="0"/>
          </a:p>
          <a:p>
            <a:r>
              <a:rPr lang="en-US" sz="2400" b="1" dirty="0"/>
              <a:t> </a:t>
            </a:r>
            <a:r>
              <a:rPr lang="en-US" sz="2000" b="1" dirty="0"/>
              <a:t>2.Paper :</a:t>
            </a:r>
            <a:r>
              <a:rPr lang="en-IN" dirty="0"/>
              <a:t>D. Meena et al., “Microcontroller-Based Automated Pesticide Sprayer Using Motorized Agricultural Vehicle,” 2023. </a:t>
            </a:r>
          </a:p>
        </p:txBody>
      </p:sp>
      <p:pic>
        <p:nvPicPr>
          <p:cNvPr id="6" name="Picture 5" descr="A logo with text on it&#10;&#10;AI-generated content may be incorrect.">
            <a:extLst>
              <a:ext uri="{FF2B5EF4-FFF2-40B4-BE49-F238E27FC236}">
                <a16:creationId xmlns:a16="http://schemas.microsoft.com/office/drawing/2014/main" id="{79B00C56-89E6-420B-B19D-3A4F2E2AE1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55" y="202625"/>
            <a:ext cx="1462341" cy="56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972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AutoShape 2" descr="What is Question and Answers Submissions in SEO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388" name="Picture 4" descr="What is Question and Answers Submissions in SEO?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752600"/>
            <a:ext cx="5212080" cy="3257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24050" y="6278880"/>
            <a:ext cx="5410200" cy="457200"/>
          </a:xfrm>
        </p:spPr>
        <p:txBody>
          <a:bodyPr/>
          <a:lstStyle/>
          <a:p>
            <a:pPr algn="ctr"/>
            <a:r>
              <a:rPr lang="en-US" dirty="0"/>
              <a:t>Department of Electronics &amp; Communication Engineering, </a:t>
            </a:r>
          </a:p>
          <a:p>
            <a:pPr algn="ctr"/>
            <a:r>
              <a:rPr lang="en-US" dirty="0"/>
              <a:t>School of Engineering &amp; Sciences</a:t>
            </a:r>
          </a:p>
        </p:txBody>
      </p:sp>
      <p:pic>
        <p:nvPicPr>
          <p:cNvPr id="2" name="Picture 1" descr="A logo with text on it&#10;&#10;AI-generated content may be incorrect.">
            <a:extLst>
              <a:ext uri="{FF2B5EF4-FFF2-40B4-BE49-F238E27FC236}">
                <a16:creationId xmlns:a16="http://schemas.microsoft.com/office/drawing/2014/main" id="{464D751C-1A2F-2B2C-3731-CA56414BA1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55" y="202625"/>
            <a:ext cx="1462341" cy="56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038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5" name="Picture 2" descr="Image result for thank you">
            <a:extLst>
              <a:ext uri="{FF2B5EF4-FFF2-40B4-BE49-F238E27FC236}">
                <a16:creationId xmlns:a16="http://schemas.microsoft.com/office/drawing/2014/main" id="{7B79B104-26D1-4EBD-8046-ED05C46C1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43000"/>
            <a:ext cx="54864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24050" y="6278880"/>
            <a:ext cx="5410200" cy="457200"/>
          </a:xfrm>
        </p:spPr>
        <p:txBody>
          <a:bodyPr/>
          <a:lstStyle/>
          <a:p>
            <a:pPr algn="ctr"/>
            <a:r>
              <a:rPr lang="en-US" dirty="0"/>
              <a:t>Department of Electronics &amp; Communication Engineering, </a:t>
            </a:r>
          </a:p>
          <a:p>
            <a:pPr algn="ctr"/>
            <a:r>
              <a:rPr lang="en-US" dirty="0"/>
              <a:t>School of Engineering &amp; Sciences</a:t>
            </a:r>
          </a:p>
        </p:txBody>
      </p:sp>
      <p:pic>
        <p:nvPicPr>
          <p:cNvPr id="2" name="Picture 1" descr="A logo with text on it&#10;&#10;AI-generated content may be incorrect.">
            <a:extLst>
              <a:ext uri="{FF2B5EF4-FFF2-40B4-BE49-F238E27FC236}">
                <a16:creationId xmlns:a16="http://schemas.microsoft.com/office/drawing/2014/main" id="{BDFE95D2-67CD-5E8E-E1F8-10BE478E25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55" y="202625"/>
            <a:ext cx="1462341" cy="5696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7B6-21EC-477A-8914-ADF2262C5077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74904" y="815109"/>
            <a:ext cx="8621314" cy="527685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Guidelines</a:t>
            </a:r>
            <a:endParaRPr lang="en-US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 in content and delivery is required 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coordination within a group is required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bullet points brief and avoid use of large paragraph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diagrams are great communicators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actual photograph and working video of project work whereas applicable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yourself during presentation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per wish of students template design may change with satisfying stated contents &amp; guidelines.</a:t>
            </a:r>
          </a:p>
          <a:p>
            <a:pPr marL="0" indent="0">
              <a:buNone/>
            </a:pP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3100" b="1" dirty="0">
                <a:solidFill>
                  <a:srgbClr val="00A4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Propelling force for effective Technical Presentation 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sz="3100" dirty="0">
                <a:solidFill>
                  <a:srgbClr val="080CB8"/>
                </a:solidFill>
                <a:latin typeface="Times New Roman" pitchFamily="18" charset="0"/>
                <a:cs typeface="Times New Roman" pitchFamily="18" charset="0"/>
              </a:rPr>
              <a:t>In depth Knowledge of work 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sz="3100" dirty="0">
                <a:solidFill>
                  <a:srgbClr val="080CB8"/>
                </a:solidFill>
                <a:latin typeface="Times New Roman" pitchFamily="18" charset="0"/>
                <a:cs typeface="Times New Roman" pitchFamily="18" charset="0"/>
              </a:rPr>
              <a:t>Systematic Planning 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sz="3100" dirty="0">
                <a:solidFill>
                  <a:srgbClr val="080CB8"/>
                </a:solidFill>
                <a:latin typeface="Times New Roman" pitchFamily="18" charset="0"/>
                <a:cs typeface="Times New Roman" pitchFamily="18" charset="0"/>
              </a:rPr>
              <a:t>Smart Execution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DD9351-3B44-489D-9CC3-4CF9D75967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874" y="152400"/>
            <a:ext cx="1403526" cy="563419"/>
          </a:xfrm>
          <a:prstGeom prst="rect">
            <a:avLst/>
          </a:prstGeom>
        </p:spPr>
      </p:pic>
      <p:sp>
        <p:nvSpPr>
          <p:cNvPr id="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24050" y="6278880"/>
            <a:ext cx="5410200" cy="457200"/>
          </a:xfrm>
        </p:spPr>
        <p:txBody>
          <a:bodyPr/>
          <a:lstStyle/>
          <a:p>
            <a:pPr algn="ctr"/>
            <a:r>
              <a:rPr lang="en-US" dirty="0"/>
              <a:t>Department of Electronics &amp; Communication Engineering, </a:t>
            </a:r>
          </a:p>
          <a:p>
            <a:pPr algn="ctr"/>
            <a:r>
              <a:rPr lang="en-US" dirty="0"/>
              <a:t>School of Engineering &amp; Sciences</a:t>
            </a:r>
          </a:p>
        </p:txBody>
      </p:sp>
    </p:spTree>
    <p:extLst>
      <p:ext uri="{BB962C8B-B14F-4D97-AF65-F5344CB8AC3E}">
        <p14:creationId xmlns:p14="http://schemas.microsoft.com/office/powerpoint/2010/main" val="1830004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4395</TotalTime>
  <Words>1574</Words>
  <Application>Microsoft Office PowerPoint</Application>
  <PresentationFormat>On-screen Show (4:3)</PresentationFormat>
  <Paragraphs>298</Paragraphs>
  <Slides>23</Slides>
  <Notes>0</Notes>
  <HiddenSlides>6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Courier New</vt:lpstr>
      <vt:lpstr>Franklin Gothic Book</vt:lpstr>
      <vt:lpstr>Perpetua</vt:lpstr>
      <vt:lpstr>Times New Roman</vt:lpstr>
      <vt:lpstr>Wingdings 2</vt:lpstr>
      <vt:lpstr>Equity</vt:lpstr>
      <vt:lpstr>PowerPoint Presentation</vt:lpstr>
      <vt:lpstr>Sponsorship Details (if any)</vt:lpstr>
      <vt:lpstr>Contents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Simulation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Project Based Accolades (If Any)</vt:lpstr>
      <vt:lpstr>                    Reference</vt:lpstr>
      <vt:lpstr>PowerPoint Presentation</vt:lpstr>
      <vt:lpstr>PowerPoint Presentation</vt:lpstr>
      <vt:lpstr>PowerPoint Presentation</vt:lpstr>
    </vt:vector>
  </TitlesOfParts>
  <Company>bscoer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 on How to Present Scientific Paper</dc:title>
  <dc:creator>tssm</dc:creator>
  <cp:lastModifiedBy>Harshada Patil</cp:lastModifiedBy>
  <cp:revision>302</cp:revision>
  <dcterms:created xsi:type="dcterms:W3CDTF">2016-01-21T09:24:48Z</dcterms:created>
  <dcterms:modified xsi:type="dcterms:W3CDTF">2026-03-17T17:05:29Z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5487c9-99ed-4cbc-93a8-0e9b1796bde5_Enabled">
    <vt:lpwstr>true</vt:lpwstr>
  </property>
  <property fmtid="{D5CDD505-2E9C-101B-9397-08002B2CF9AE}" pid="3" name="MSIP_Label_e65487c9-99ed-4cbc-93a8-0e9b1796bde5_SetDate">
    <vt:lpwstr>2025-08-22T03:54:04Z</vt:lpwstr>
  </property>
  <property fmtid="{D5CDD505-2E9C-101B-9397-08002B2CF9AE}" pid="4" name="MSIP_Label_e65487c9-99ed-4cbc-93a8-0e9b1796bde5_Method">
    <vt:lpwstr>Standard</vt:lpwstr>
  </property>
  <property fmtid="{D5CDD505-2E9C-101B-9397-08002B2CF9AE}" pid="5" name="MSIP_Label_e65487c9-99ed-4cbc-93a8-0e9b1796bde5_Name">
    <vt:lpwstr>defa4170-0d19-0005-0004-bc88714345d2</vt:lpwstr>
  </property>
  <property fmtid="{D5CDD505-2E9C-101B-9397-08002B2CF9AE}" pid="6" name="MSIP_Label_e65487c9-99ed-4cbc-93a8-0e9b1796bde5_SiteId">
    <vt:lpwstr>03cb5f0c-1f82-4993-9621-36330f6309ec</vt:lpwstr>
  </property>
  <property fmtid="{D5CDD505-2E9C-101B-9397-08002B2CF9AE}" pid="7" name="MSIP_Label_e65487c9-99ed-4cbc-93a8-0e9b1796bde5_ActionId">
    <vt:lpwstr>20f8b744-f8dd-4212-90ed-eb6a61bb8dad</vt:lpwstr>
  </property>
  <property fmtid="{D5CDD505-2E9C-101B-9397-08002B2CF9AE}" pid="8" name="MSIP_Label_e65487c9-99ed-4cbc-93a8-0e9b1796bde5_ContentBits">
    <vt:lpwstr>0</vt:lpwstr>
  </property>
  <property fmtid="{D5CDD505-2E9C-101B-9397-08002B2CF9AE}" pid="9" name="MSIP_Label_e65487c9-99ed-4cbc-93a8-0e9b1796bde5_Tag">
    <vt:lpwstr>10, 3, 0, 1</vt:lpwstr>
  </property>
</Properties>
</file>